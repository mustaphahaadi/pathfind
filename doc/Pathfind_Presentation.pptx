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Intro: I'm Mustapha Haadi, Team Lead and DevOps engineer. Pathfind bridges the tech-career entry gap in Ghana with structured mentorship from verified professionals. Credit team: Edward - frontend; Faith - fullstack workflows; Stephen - backend and database; Margaret - containers and storage; me - cloud infrastructure and release engineering.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Built by Edward. React 19 + TypeScript SPA with Vite and Tailwind v4. Higher-order route guards: ProtectedRoute, MentorRoute, AdminRoute. Zustand with local storage persistence. SWITCH TO LIVE APP: show directory, filters, guarded routes.</a:t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Faith's workflows. Mentee filters by expertise tags, picks a category, sets goals, attaches resume URL. Mentor sees request on dashboard; on accept, a modal captures a Google Meet or Zoom link that the mentee sees on their dashboard. Mentees also keep session notes, goals, bookmarks. SWITCH TO LIVE APP: send a request as mentee, accept as mentor.</a:t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Stephen's backend. Python 3.11, FastAPI 0.95, Pydantic. PostgreSQL 15 with SQLAlchemy 2.0 and Alembic. Passwords hashed with bcrypt; JWT bearer auth; slowapi limits. SWITCH TO: Swagger /docs (show endpoints) or backend code (main.py, models.py).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Margaret and Mustapha. Local Docker Compose mirrors prod. S3 uploads with presigned URLs and automatic local-disk fallback; emails sent async via SMTP. Traffic: Cloudflare -&gt; ALB -&gt; ECS (EC2 launch type) in private app subnet -&gt; single RDS Postgres in private DB subnet. GitHub Actions: PR runs lint/build/pytest; merge to main builds image, pushes to ECR, rolling ECS deploy. SWITCH TO: AWS console (ECS service, RDS) and a GitHub Actions run.</a:t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Conclusion: 22/22 backend tests, zero frontend errors. Pathfind is a secure, deployed mentorship platform. Q&amp;A: pass frontend to Edward, workflows to Faith, backend/DB to Stephen, Docker/S3 to Margaret; answer AWS/CI-CD directly.</a:t>
            </a:r>
            <a:endParaRPr/>
          </a:p>
        </p:txBody>
      </p:sp>
      <p:sp>
        <p:nvSpPr>
          <p:cNvPr id="162" name="Google Shape;1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4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2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26B21"/>
                </a:solidFill>
                <a:latin typeface="Calibri"/>
                <a:ea typeface="Calibri"/>
                <a:cs typeface="Calibri"/>
                <a:sym typeface="Calibri"/>
              </a:rPr>
              <a:t>AMALITECH CAPSTONE · PRODUCT FAMILY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548640" y="91440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Pathfind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201168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A structured mentorship platform connecting people entering tech in Ghana with verified industry professionals.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30175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Cold outreach gets ghosted. Pathfind gives mentees a clear, category-bound way to ask, and mentors a clear way to help.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7498080" y="137160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B8C4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7040880" y="457200"/>
            <a:ext cx="914400" cy="914400"/>
          </a:xfrm>
          <a:prstGeom prst="ellipse">
            <a:avLst/>
          </a:prstGeom>
          <a:solidFill>
            <a:srgbClr val="16336A"/>
          </a:solidFill>
          <a:ln cap="flat" cmpd="sng" w="12700">
            <a:solidFill>
              <a:srgbClr val="B8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7040880" y="4572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7498080" y="2560320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B8C4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7040880" y="1645920"/>
            <a:ext cx="914400" cy="91440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B8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7040880" y="164592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Pathfind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040880" y="2834640"/>
            <a:ext cx="914400" cy="914400"/>
          </a:xfrm>
          <a:prstGeom prst="ellipse">
            <a:avLst/>
          </a:prstGeom>
          <a:solidFill>
            <a:srgbClr val="16336A"/>
          </a:solidFill>
          <a:ln cap="flat" cmpd="sng" w="12700">
            <a:solidFill>
              <a:srgbClr val="B8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7040880" y="283464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3931920"/>
            <a:ext cx="1554480" cy="777240"/>
          </a:xfrm>
          <a:prstGeom prst="roundRect">
            <a:avLst>
              <a:gd fmla="val 1176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640080" y="39319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Mustapha Haadi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DevOps · Team Lead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2176272" y="3931920"/>
            <a:ext cx="1554480" cy="777240"/>
          </a:xfrm>
          <a:prstGeom prst="roundRect">
            <a:avLst>
              <a:gd fmla="val 1176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2267712" y="39319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Edward Kamasah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3803904" y="3931920"/>
            <a:ext cx="1554480" cy="777240"/>
          </a:xfrm>
          <a:prstGeom prst="roundRect">
            <a:avLst>
              <a:gd fmla="val 1176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 txBox="1"/>
          <p:nvPr/>
        </p:nvSpPr>
        <p:spPr>
          <a:xfrm>
            <a:off x="3895344" y="39319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Faith Ugwo Oghenetega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Fullstack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431536" y="3931920"/>
            <a:ext cx="1554480" cy="777240"/>
          </a:xfrm>
          <a:prstGeom prst="roundRect">
            <a:avLst>
              <a:gd fmla="val 1176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 txBox="1"/>
          <p:nvPr/>
        </p:nvSpPr>
        <p:spPr>
          <a:xfrm>
            <a:off x="5522976" y="39319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Margaret Amanfu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7059168" y="3931920"/>
            <a:ext cx="1554480" cy="777240"/>
          </a:xfrm>
          <a:prstGeom prst="roundRect">
            <a:avLst>
              <a:gd fmla="val 1176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7150608" y="3931920"/>
            <a:ext cx="1371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Stephen N. Mensah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/>
        </p:nvSpPr>
        <p:spPr>
          <a:xfrm>
            <a:off x="457200" y="3200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Frontend &amp; User Experience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720840" y="429768"/>
            <a:ext cx="1965960" cy="365760"/>
          </a:xfrm>
          <a:prstGeom prst="roundRect">
            <a:avLst>
              <a:gd fmla="val 50000" name="adj"/>
            </a:avLst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6720840" y="42976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Demo: live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118872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1325880"/>
            <a:ext cx="502920" cy="50292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234440" y="118872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React 19 + TypeScript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Type-safe single page application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214884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94360" y="2286000"/>
            <a:ext cx="502920" cy="50292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59436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234440" y="214884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Vite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Instant hot reload, optimized production bundles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57200" y="310896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594360" y="3246120"/>
            <a:ext cx="502920" cy="50292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594360" y="3246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34440" y="3108960"/>
            <a:ext cx="3154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Tailwind CSS v4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Utility styling, responsive on mobile and desktop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Route guards (React Router v7)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1600200"/>
            <a:ext cx="3931920" cy="685800"/>
          </a:xfrm>
          <a:prstGeom prst="roundRect">
            <a:avLst>
              <a:gd fmla="val 13333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4937760" y="160020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ProtectedRoute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Authenticated users only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54880" y="2423160"/>
            <a:ext cx="3931920" cy="685800"/>
          </a:xfrm>
          <a:prstGeom prst="roundRect">
            <a:avLst>
              <a:gd fmla="val 13333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4937760" y="242316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Approved mentor profiles only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3246120"/>
            <a:ext cx="3931920" cy="685800"/>
          </a:xfrm>
          <a:prstGeom prst="roundRect">
            <a:avLst>
              <a:gd fmla="val 13333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4937760" y="324612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AdminRoute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Verification queue and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fmla="val 18182" name="adj"/>
            </a:avLst>
          </a:prstGeom>
          <a:solidFill>
            <a:srgbClr val="FDE9DC"/>
          </a:solidFill>
          <a:ln cap="flat" cmpd="sng" w="12700">
            <a:solidFill>
              <a:srgbClr val="FDE9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State: </a:t>
            </a: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Zustand stores with persisted auth token and multi-step onboarding drafts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AmaliTech Capstone · Product Family 2  |  Pathfind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457200" y="3200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The Mentorship Workflow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720840" y="429768"/>
            <a:ext cx="1965960" cy="365760"/>
          </a:xfrm>
          <a:prstGeom prst="roundRect">
            <a:avLst>
              <a:gd fmla="val 50000" name="adj"/>
            </a:avLst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6720840" y="42976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Demo: live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5"/>
          <p:cNvCxnSpPr/>
          <p:nvPr/>
        </p:nvCxnSpPr>
        <p:spPr>
          <a:xfrm>
            <a:off x="1600200" y="1645920"/>
            <a:ext cx="1005840" cy="0"/>
          </a:xfrm>
          <a:prstGeom prst="straightConnector1">
            <a:avLst/>
          </a:prstGeom>
          <a:noFill/>
          <a:ln cap="flat" cmpd="sng" w="19050">
            <a:solidFill>
              <a:srgbClr val="4A5A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5"/>
          <p:cNvSpPr/>
          <p:nvPr/>
        </p:nvSpPr>
        <p:spPr>
          <a:xfrm>
            <a:off x="960120" y="1325880"/>
            <a:ext cx="640080" cy="64008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960120" y="132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502920" y="2057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Search the mentor directory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5"/>
          <p:cNvCxnSpPr/>
          <p:nvPr/>
        </p:nvCxnSpPr>
        <p:spPr>
          <a:xfrm>
            <a:off x="3246120" y="1645920"/>
            <a:ext cx="1005840" cy="0"/>
          </a:xfrm>
          <a:prstGeom prst="straightConnector1">
            <a:avLst/>
          </a:prstGeom>
          <a:noFill/>
          <a:ln cap="flat" cmpd="sng" w="19050">
            <a:solidFill>
              <a:srgbClr val="4A5A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" name="Google Shape;82;p5"/>
          <p:cNvSpPr/>
          <p:nvPr/>
        </p:nvSpPr>
        <p:spPr>
          <a:xfrm>
            <a:off x="2606040" y="1325880"/>
            <a:ext cx="640080" cy="64008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2606040" y="132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2148840" y="2057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Choose a request type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4892040" y="1645920"/>
            <a:ext cx="1005840" cy="0"/>
          </a:xfrm>
          <a:prstGeom prst="straightConnector1">
            <a:avLst/>
          </a:prstGeom>
          <a:noFill/>
          <a:ln cap="flat" cmpd="sng" w="19050">
            <a:solidFill>
              <a:srgbClr val="4A5A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5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 txBox="1"/>
          <p:nvPr/>
        </p:nvSpPr>
        <p:spPr>
          <a:xfrm>
            <a:off x="4251960" y="132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3794760" y="2057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Send request with goals and resume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5"/>
          <p:cNvCxnSpPr/>
          <p:nvPr/>
        </p:nvCxnSpPr>
        <p:spPr>
          <a:xfrm>
            <a:off x="6537960" y="1645920"/>
            <a:ext cx="1005840" cy="0"/>
          </a:xfrm>
          <a:prstGeom prst="straightConnector1">
            <a:avLst/>
          </a:prstGeom>
          <a:noFill/>
          <a:ln cap="flat" cmpd="sng" w="19050">
            <a:solidFill>
              <a:srgbClr val="4A5A7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" name="Google Shape;90;p5"/>
          <p:cNvSpPr/>
          <p:nvPr/>
        </p:nvSpPr>
        <p:spPr>
          <a:xfrm>
            <a:off x="5897880" y="1325880"/>
            <a:ext cx="640080" cy="64008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5897880" y="132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440680" y="2057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Mentor accepts and adds a video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543800" y="1325880"/>
            <a:ext cx="640080" cy="640080"/>
          </a:xfrm>
          <a:prstGeom prst="ellipse">
            <a:avLst/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7543800" y="132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7086600" y="2057400"/>
            <a:ext cx="1554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2447"/>
                </a:solidFill>
                <a:latin typeface="Calibri"/>
                <a:ea typeface="Calibri"/>
                <a:cs typeface="Calibri"/>
                <a:sym typeface="Calibri"/>
              </a:rPr>
              <a:t>Mentee joins from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Request types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640080" y="34290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Resume 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Portfolio feedback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Career path conversation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Interview preparation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Role / industry insight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3429000" y="30632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Engagement tools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429000" y="34290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Private session notes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Personal goals tracker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Saved (bookmarked) mentors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 txBox="1"/>
          <p:nvPr/>
        </p:nvSpPr>
        <p:spPr>
          <a:xfrm>
            <a:off x="6217920" y="306324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Trust and verification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6217920" y="3429000"/>
            <a:ext cx="2286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Admin queue approves mentors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Only verified mentors are listed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AmaliTech Capstone · Product Family 2  |  Pathfind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/>
        </p:nvSpPr>
        <p:spPr>
          <a:xfrm>
            <a:off x="457200" y="3200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Backend, Security &amp; Data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720840" y="429768"/>
            <a:ext cx="1965960" cy="365760"/>
          </a:xfrm>
          <a:prstGeom prst="roundRect">
            <a:avLst>
              <a:gd fmla="val 50000" name="adj"/>
            </a:avLst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 txBox="1"/>
          <p:nvPr/>
        </p:nvSpPr>
        <p:spPr>
          <a:xfrm>
            <a:off x="6720840" y="42976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Demo: Swagger /docs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188720"/>
            <a:ext cx="242316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 txBox="1"/>
          <p:nvPr/>
        </p:nvSpPr>
        <p:spPr>
          <a:xfrm>
            <a:off x="640080" y="13258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640080" y="169164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FastAPI with strict Pydantic validation and auto-generated Swagger docs at /docs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017520" y="1188720"/>
            <a:ext cx="242316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3200400" y="13258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Database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3200400" y="169164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PostgreSQL 15 via SQLAlchemy 2.0 ORM, versioned with Alembic migrations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2743200"/>
            <a:ext cx="242316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640080" y="28803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Authentication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40080" y="324612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bcrypt password hashing and OAuth2 JWT bearer tokens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017520" y="2743200"/>
            <a:ext cx="2423160" cy="1417320"/>
          </a:xfrm>
          <a:prstGeom prst="roundRect">
            <a:avLst>
              <a:gd fmla="val 6452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3200400" y="28803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Rate limiting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3200400" y="3246120"/>
            <a:ext cx="2057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slowapi protects auth: 3 requests/min signup, 5 requests/min signin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669280" y="1188720"/>
            <a:ext cx="3017520" cy="2971800"/>
          </a:xfrm>
          <a:prstGeom prst="roundRect">
            <a:avLst>
              <a:gd fmla="val 3077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5852160" y="13258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Core tables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852160" y="1737360"/>
            <a:ext cx="26517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mentor_profiles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mentorship_requests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session_notes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saved_mentors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mentor_reviews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AmaliTech Capstone · Product Family 2  |  Pathfind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457200" y="320040"/>
            <a:ext cx="6217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Infrastructure &amp; CI/CD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720840" y="429768"/>
            <a:ext cx="1965960" cy="365760"/>
          </a:xfrm>
          <a:prstGeom prst="roundRect">
            <a:avLst>
              <a:gd fmla="val 50000" name="adj"/>
            </a:avLst>
          </a:prstGeom>
          <a:solidFill>
            <a:srgbClr val="F26B21"/>
          </a:solidFill>
          <a:ln cap="flat" cmpd="sng" w="12700">
            <a:solidFill>
              <a:srgbClr val="F26B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6720840" y="42976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Demo: AWS +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7"/>
          <p:cNvCxnSpPr/>
          <p:nvPr/>
        </p:nvCxnSpPr>
        <p:spPr>
          <a:xfrm>
            <a:off x="2240280" y="169164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F26B2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7"/>
          <p:cNvSpPr/>
          <p:nvPr/>
        </p:nvSpPr>
        <p:spPr>
          <a:xfrm>
            <a:off x="457200" y="1234440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457200" y="123444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Cloudflare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DNS + WAF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7"/>
          <p:cNvCxnSpPr/>
          <p:nvPr/>
        </p:nvCxnSpPr>
        <p:spPr>
          <a:xfrm>
            <a:off x="4389120" y="169164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F26B2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7"/>
          <p:cNvSpPr/>
          <p:nvPr/>
        </p:nvSpPr>
        <p:spPr>
          <a:xfrm>
            <a:off x="2606040" y="1234440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2606040" y="123444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ALB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Load balancer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7"/>
          <p:cNvCxnSpPr/>
          <p:nvPr/>
        </p:nvCxnSpPr>
        <p:spPr>
          <a:xfrm>
            <a:off x="6537960" y="1691640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F26B2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" name="Google Shape;147;p7"/>
          <p:cNvSpPr/>
          <p:nvPr/>
        </p:nvSpPr>
        <p:spPr>
          <a:xfrm>
            <a:off x="4754880" y="1234440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4754880" y="123444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ECS on EC2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Private app subnet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903720" y="1234440"/>
            <a:ext cx="1783080" cy="914400"/>
          </a:xfrm>
          <a:prstGeom prst="roundRect">
            <a:avLst>
              <a:gd fmla="val 10000" name="adj"/>
            </a:avLst>
          </a:prstGeom>
          <a:solidFill>
            <a:srgbClr val="0B2447"/>
          </a:solidFill>
          <a:ln cap="flat" cmpd="sng" w="12700">
            <a:solidFill>
              <a:srgbClr val="0B244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6903720" y="123444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RDS Postgres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Private DB subnet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2514600"/>
            <a:ext cx="4023360" cy="210312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On every pull request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40080" y="30175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Frontend lint and production build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Backend flake8 lint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22-case Pytest suite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663440" y="2514600"/>
            <a:ext cx="4023360" cy="210312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9525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44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B2447"/>
                </a:solidFill>
                <a:latin typeface="Cambria"/>
                <a:ea typeface="Cambria"/>
                <a:cs typeface="Cambria"/>
                <a:sym typeface="Cambria"/>
              </a:rPr>
              <a:t>On merge to main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4846320" y="30175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Multi-stage Docker image, tagged with commit SHA, pushed to Amazon ECR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Rolling update on ECS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4A5A73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alembic upgrade head runs on startup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AmaliTech Capstone · Product Family 2  |  Pathfind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5A7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5A7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44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/>
          <p:nvPr/>
        </p:nvSpPr>
        <p:spPr>
          <a:xfrm>
            <a:off x="457200" y="36576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Results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57200" y="1325880"/>
            <a:ext cx="2651760" cy="2011680"/>
          </a:xfrm>
          <a:prstGeom prst="roundRect">
            <a:avLst>
              <a:gd fmla="val 454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640080" y="1554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21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26B21"/>
                </a:solidFill>
                <a:latin typeface="Cambria"/>
                <a:ea typeface="Cambria"/>
                <a:cs typeface="Cambria"/>
                <a:sym typeface="Cambria"/>
              </a:rPr>
              <a:t>22/22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640080" y="25603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Pytest cases passing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246120" y="1325880"/>
            <a:ext cx="2651760" cy="2011680"/>
          </a:xfrm>
          <a:prstGeom prst="roundRect">
            <a:avLst>
              <a:gd fmla="val 454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 txBox="1"/>
          <p:nvPr/>
        </p:nvSpPr>
        <p:spPr>
          <a:xfrm>
            <a:off x="3429000" y="1554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21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26B21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3429000" y="25603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build errors or warnings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035040" y="1325880"/>
            <a:ext cx="2651760" cy="2011680"/>
          </a:xfrm>
          <a:prstGeom prst="roundRect">
            <a:avLst>
              <a:gd fmla="val 4545" name="adj"/>
            </a:avLst>
          </a:prstGeom>
          <a:solidFill>
            <a:srgbClr val="16336A"/>
          </a:solidFill>
          <a:ln cap="flat" cmpd="sng" w="12700">
            <a:solidFill>
              <a:srgbClr val="1633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6217920" y="155448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B21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26B21"/>
                </a:solidFill>
                <a:latin typeface="Cambria"/>
                <a:ea typeface="Cambria"/>
                <a:cs typeface="Cambria"/>
                <a:sym typeface="Cambria"/>
              </a:rPr>
              <a:t>CI/CD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6217920" y="256032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deploys to AWS ECS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you. Questions?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4D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8C4DA"/>
                </a:solidFill>
                <a:latin typeface="Calibri"/>
                <a:ea typeface="Calibri"/>
                <a:cs typeface="Calibri"/>
                <a:sym typeface="Calibri"/>
              </a:rPr>
              <a:t>Pathfind · AmaliTech Capstone · Product Family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